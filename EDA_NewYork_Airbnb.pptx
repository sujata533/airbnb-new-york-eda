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5"/>
  </p:notesMasterIdLst>
  <p:handoutMasterIdLst>
    <p:handoutMasterId r:id="rId16"/>
  </p:handoutMasterIdLst>
  <p:sldIdLst>
    <p:sldId id="289" r:id="rId5"/>
    <p:sldId id="288" r:id="rId6"/>
    <p:sldId id="276" r:id="rId7"/>
    <p:sldId id="283" r:id="rId8"/>
    <p:sldId id="261" r:id="rId9"/>
    <p:sldId id="290" r:id="rId10"/>
    <p:sldId id="263" r:id="rId11"/>
    <p:sldId id="291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C55159-D387-4C66-A269-EA91DB41F956}" v="438" dt="2026-03-17T16:34:25.944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 autoAdjust="0"/>
    <p:restoredTop sz="94694" autoAdjust="0"/>
  </p:normalViewPr>
  <p:slideViewPr>
    <p:cSldViewPr snapToGrid="0">
      <p:cViewPr varScale="1">
        <p:scale>
          <a:sx n="110" d="100"/>
          <a:sy n="110" d="100"/>
        </p:scale>
        <p:origin x="72" y="3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24D3B-1460-E957-29DB-7118876D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A0E27-4BB5-8828-A5E5-ACBEC5FA9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E4638-6F7C-2321-6021-8106C5C17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54E6D-A12A-5FF8-8F19-4B499E95A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95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D41A0-160C-BA74-2F33-422BA7161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07103-C3D0-97D4-0063-14188DF47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783C8-7AB3-ADE4-3777-E0062405B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5A9C3-3A68-102B-E972-7533FF138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82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98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1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6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67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0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5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6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0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3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4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4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59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46702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17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46060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18350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1133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1171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481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297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283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173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737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785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137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9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36" userDrawn="1">
          <p15:clr>
            <a:srgbClr val="F26B43"/>
          </p15:clr>
        </p15:guide>
        <p15:guide id="4" orient="horz" pos="3984" userDrawn="1">
          <p15:clr>
            <a:srgbClr val="F26B43"/>
          </p15:clr>
        </p15:guide>
        <p15:guide id="5" pos="336" userDrawn="1">
          <p15:clr>
            <a:srgbClr val="F26B43"/>
          </p15:clr>
        </p15:guide>
        <p15:guide id="6" pos="7344" userDrawn="1">
          <p15:clr>
            <a:srgbClr val="F26B43"/>
          </p15:clr>
        </p15:guide>
        <p15:guide id="7" pos="720" userDrawn="1">
          <p15:clr>
            <a:srgbClr val="F26B43"/>
          </p15:clr>
        </p15:guide>
        <p15:guide id="8" pos="6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221245A-B93D-45A8-B0FA-EC2AEE26E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3" r="-1" b="29368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60A95D1-194E-4E4E-8C67-30F91F8E7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90"/>
            <a:ext cx="8521995" cy="6858000"/>
          </a:xfrm>
          <a:prstGeom prst="rect">
            <a:avLst/>
          </a:prstGeom>
          <a:gradFill>
            <a:gsLst>
              <a:gs pos="58000">
                <a:srgbClr val="000000">
                  <a:alpha val="30000"/>
                </a:srgbClr>
              </a:gs>
              <a:gs pos="33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871538"/>
            <a:ext cx="6515100" cy="320292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i="1" kern="1200" cap="all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New York Airbnb Listings EDA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CF6D61-374F-A7A2-E2EC-E49C80F8C848}"/>
              </a:ext>
            </a:extLst>
          </p:cNvPr>
          <p:cNvSpPr txBox="1"/>
          <p:nvPr/>
        </p:nvSpPr>
        <p:spPr>
          <a:xfrm>
            <a:off x="1104900" y="4464424"/>
            <a:ext cx="5208493" cy="105783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buSzPct val="80000"/>
            </a:pPr>
            <a:r>
              <a:rPr lang="en-US" b="1" cap="all" spc="300">
                <a:solidFill>
                  <a:srgbClr val="FFFFFF"/>
                </a:solidFill>
              </a:rPr>
              <a:t>By : Sujata Gandhavarapu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4C0A835-9AC9-4D0F-A529-BE4789E12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339206" y="3065930"/>
            <a:ext cx="2852793" cy="37977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CF67ECC-797A-4CA0-87E3-360466498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0172700" y="0"/>
            <a:ext cx="1358310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ctr">
            <a:normAutofit/>
          </a:bodyPr>
          <a:lstStyle/>
          <a:p>
            <a:r>
              <a:rPr lang="en-US">
                <a:ea typeface="+mn-lt"/>
                <a:cs typeface="+mn-lt"/>
              </a:rPr>
              <a:t>Project Objective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Analyze rental listing patterns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Understand pricing trends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Identify popular neighborhoods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Study relationship between reviews and price</a:t>
            </a:r>
            <a:endParaRPr lang="en-US"/>
          </a:p>
          <a:p>
            <a:endParaRPr lang="en-US" dirty="0"/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5B8092E2-D77A-4CE6-BB2D-626978445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2CD835-4B0F-45D6-9B85-B049A1005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4C55396-8B68-0533-A7E8-F87C1A18D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0215" y="511309"/>
            <a:ext cx="9345550" cy="12219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/>
              <a:t>Dataset overview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08" r="25762"/>
          <a:stretch>
            <a:fillRect/>
          </a:stretch>
        </p:blipFill>
        <p:spPr>
          <a:xfrm>
            <a:off x="20" y="2009553"/>
            <a:ext cx="5188507" cy="4847794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D02BE56-7EB5-4E62-B6E2-1C49E470A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303028"/>
            <a:ext cx="3296093" cy="170652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595B06-EDA5-4E45-BED4-7891E7E0C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1" idx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9137"/>
            <a:ext cx="5745707" cy="99596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9592DA5-68A4-46A6-90EA-F0304FF8E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356946" y="9137"/>
            <a:ext cx="714366" cy="200041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79C9A5D-F572-476A-99A9-700077150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7977116" y="9137"/>
            <a:ext cx="4214884" cy="78243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E4D1CE5-D7D6-35B3-C9CE-F27A4C187716}"/>
              </a:ext>
            </a:extLst>
          </p:cNvPr>
          <p:cNvSpPr txBox="1"/>
          <p:nvPr/>
        </p:nvSpPr>
        <p:spPr>
          <a:xfrm>
            <a:off x="5390029" y="2476500"/>
            <a:ext cx="6096000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Dataset: New York Airbnb Listings</a:t>
            </a:r>
            <a:br>
              <a:rPr lang="en-US" dirty="0"/>
            </a:br>
            <a:r>
              <a:rPr lang="en-US"/>
              <a:t>Records: ~20,758 listings</a:t>
            </a:r>
          </a:p>
          <a:p>
            <a:endParaRPr lang="en-US" dirty="0"/>
          </a:p>
          <a:p>
            <a:r>
              <a:rPr lang="en-US" sz="2000" i="1"/>
              <a:t>Key features:</a:t>
            </a:r>
          </a:p>
          <a:p>
            <a:endParaRPr lang="en-US" sz="2000" i="1" dirty="0"/>
          </a:p>
          <a:p>
            <a:pPr marL="228600" indent="-228600">
              <a:buFont typeface=""/>
              <a:buChar char="•"/>
            </a:pPr>
            <a:r>
              <a:rPr lang="en-US"/>
              <a:t>price</a:t>
            </a:r>
          </a:p>
          <a:p>
            <a:pPr marL="228600" indent="-228600">
              <a:buFont typeface=""/>
              <a:buChar char="•"/>
            </a:pPr>
            <a:r>
              <a:rPr lang="en-US" dirty="0" err="1"/>
              <a:t>room_type</a:t>
            </a:r>
          </a:p>
          <a:p>
            <a:pPr marL="228600" indent="-228600">
              <a:buFont typeface=""/>
              <a:buChar char="•"/>
            </a:pPr>
            <a:r>
              <a:rPr lang="en-US" dirty="0" err="1"/>
              <a:t>neighbourhood</a:t>
            </a:r>
          </a:p>
          <a:p>
            <a:pPr marL="228600" indent="-228600">
              <a:buFont typeface=""/>
              <a:buChar char="•"/>
            </a:pPr>
            <a:r>
              <a:rPr lang="en-US" dirty="0" err="1"/>
              <a:t>number_of_reviews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availability_365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rating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>
                <a:solidFill>
                  <a:srgbClr val="001E2E"/>
                </a:solidFill>
                <a:latin typeface="Walbaum Display Light"/>
              </a:rPr>
              <a:t>Data Cleaning</a:t>
            </a:r>
            <a:endParaRPr lang="en-US"/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/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EFE57C-844A-49E3-4970-1E0DF1930F9F}"/>
              </a:ext>
            </a:extLst>
          </p:cNvPr>
          <p:cNvSpPr txBox="1"/>
          <p:nvPr/>
        </p:nvSpPr>
        <p:spPr>
          <a:xfrm>
            <a:off x="1442094" y="4060265"/>
            <a:ext cx="6090398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i="1"/>
              <a:t>Steps Performed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Removed duplicate records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Handled missing values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Converted rating column to numeric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Treated price outliers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5" name="Rectangle 234">
            <a:extLst>
              <a:ext uri="{FF2B5EF4-FFF2-40B4-BE49-F238E27FC236}">
                <a16:creationId xmlns:a16="http://schemas.microsoft.com/office/drawing/2014/main" id="{69D89144-0D4E-4313-987E-2320ACC7C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58DE2650-F552-4B6E-A78A-2ACB25BFB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92760"/>
            <a:ext cx="2404085" cy="639292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9900AFAE-1141-4CA1-814A-5702761CA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810940" y="878066"/>
            <a:ext cx="3381060" cy="597993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6EF9E469-AF01-4131-85CE-C98E75425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7640" y="0"/>
            <a:ext cx="6944360" cy="12446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288" y="827728"/>
            <a:ext cx="8396091" cy="7992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/>
              <a:t>Key Visualizations</a:t>
            </a:r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769CBC9D-C603-4046-B5C0-4BE084F4C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0"/>
            <a:ext cx="2700338" cy="16764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3492B1FE-4F3A-4EF3-B38B-90213B832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3978548"/>
            <a:ext cx="12192000" cy="189973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graph of a number of neighborhoods&#10;&#10;AI-generated content may be incorrect.">
            <a:extLst>
              <a:ext uri="{FF2B5EF4-FFF2-40B4-BE49-F238E27FC236}">
                <a16:creationId xmlns:a16="http://schemas.microsoft.com/office/drawing/2014/main" id="{043D58F2-E252-E434-26A6-141DBBA0C1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948" b="-4"/>
          <a:stretch>
            <a:fillRect/>
          </a:stretch>
        </p:blipFill>
        <p:spPr>
          <a:xfrm>
            <a:off x="6243181" y="3269751"/>
            <a:ext cx="4631144" cy="3263289"/>
          </a:xfrm>
          <a:prstGeom prst="rect">
            <a:avLst/>
          </a:prstGeom>
        </p:spPr>
      </p:pic>
      <p:pic>
        <p:nvPicPr>
          <p:cNvPr id="6" name="Content Placeholder 5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08AF483C-F344-A4E8-0449-8BEBC52574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858" b="6"/>
          <a:stretch>
            <a:fillRect/>
          </a:stretch>
        </p:blipFill>
        <p:spPr>
          <a:xfrm>
            <a:off x="1199265" y="3019230"/>
            <a:ext cx="4885253" cy="3713367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4AF7745-268A-0622-E984-15445A7313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8350" y="-22860"/>
            <a:ext cx="2185375" cy="6914158"/>
          </a:xfrm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8D092F-1F28-8F38-8700-F12980AC5681}"/>
              </a:ext>
            </a:extLst>
          </p:cNvPr>
          <p:cNvSpPr txBox="1"/>
          <p:nvPr/>
        </p:nvSpPr>
        <p:spPr>
          <a:xfrm>
            <a:off x="3097765" y="1739925"/>
            <a:ext cx="627597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Borough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Top neighborhoods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C99A5-AB9C-8787-38F7-904837C1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8FF994B-8F7E-64D9-4241-E98D8952A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D836B99-27E2-875D-3263-AFF66746A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BE6D65E3-52DE-9B0D-A8EB-19337681B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D84BE9DA-EDD6-7133-45C0-BAC3C44A0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F3601B55-6671-AB71-AC5F-38147D1EA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927864B8-B693-B8C2-4A1F-0C10AE7F1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1683F5B0-CADD-E139-56D3-9642EFC80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5" name="Rectangle 234">
            <a:extLst>
              <a:ext uri="{FF2B5EF4-FFF2-40B4-BE49-F238E27FC236}">
                <a16:creationId xmlns:a16="http://schemas.microsoft.com/office/drawing/2014/main" id="{73E14C24-569A-972F-DA4C-782892095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8B6C728F-5010-C9F7-1A3E-149654674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92760"/>
            <a:ext cx="2404085" cy="639292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0C562C47-0E4D-A4E3-E423-3C41B985F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810940" y="878066"/>
            <a:ext cx="3381060" cy="597993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91DA8482-9737-21AD-0F7F-37C0191FB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7640" y="0"/>
            <a:ext cx="6944360" cy="12446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22B3C59-2DC4-9B7A-0791-89ED596D4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788" y="628324"/>
            <a:ext cx="8971428" cy="10108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/>
              <a:t>Key Visualizations</a:t>
            </a:r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F89A19E8-ED15-B20D-C3C8-E2714E138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0"/>
            <a:ext cx="2700338" cy="16764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6CB73EF3-F34E-CDE4-0313-641443EB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3978548"/>
            <a:ext cx="12192000" cy="189973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5AF060FB-C218-2D57-8CAE-BFBD6A00CC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61" r="3808" b="-5"/>
          <a:stretch>
            <a:fillRect/>
          </a:stretch>
        </p:blipFill>
        <p:spPr>
          <a:xfrm>
            <a:off x="640458" y="2552420"/>
            <a:ext cx="5769232" cy="3990165"/>
          </a:xfrm>
          <a:prstGeom prst="rect">
            <a:avLst/>
          </a:prstGeom>
        </p:spPr>
      </p:pic>
      <p:pic>
        <p:nvPicPr>
          <p:cNvPr id="7" name="Picture Placeholder 6" descr="A graph of a number of rooms&#10;&#10;AI-generated content may be incorrect.">
            <a:extLst>
              <a:ext uri="{FF2B5EF4-FFF2-40B4-BE49-F238E27FC236}">
                <a16:creationId xmlns:a16="http://schemas.microsoft.com/office/drawing/2014/main" id="{9D906E78-F7F1-2390-CA03-1B32917E5E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7668" r="2370" b="-1"/>
          <a:stretch>
            <a:fillRect/>
          </a:stretch>
        </p:blipFill>
        <p:spPr>
          <a:xfrm>
            <a:off x="6715102" y="2384333"/>
            <a:ext cx="5372882" cy="41582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D9572B-A686-D83F-E4DB-A264C381B632}"/>
              </a:ext>
            </a:extLst>
          </p:cNvPr>
          <p:cNvSpPr txBox="1"/>
          <p:nvPr/>
        </p:nvSpPr>
        <p:spPr>
          <a:xfrm>
            <a:off x="2727435" y="1733319"/>
            <a:ext cx="59812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Correlation heatmap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Price vs Room 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155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6309531-94CD-4CF6-AACE-80EC085E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6159" y="685800"/>
            <a:ext cx="6238688" cy="13822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/>
              <a:t>Key insights</a:t>
            </a:r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61" r="-2" b="-2"/>
          <a:stretch>
            <a:fillRect/>
          </a:stretch>
        </p:blipFill>
        <p:spPr>
          <a:xfrm>
            <a:off x="20" y="-7444"/>
            <a:ext cx="4966427" cy="6874330"/>
          </a:xfrm>
          <a:custGeom>
            <a:avLst/>
            <a:gdLst/>
            <a:ahLst/>
            <a:cxnLst/>
            <a:rect l="l" t="t" r="r" b="b"/>
            <a:pathLst>
              <a:path w="4966447" h="6874330">
                <a:moveTo>
                  <a:pt x="0" y="0"/>
                </a:moveTo>
                <a:lnTo>
                  <a:pt x="4966447" y="0"/>
                </a:lnTo>
                <a:lnTo>
                  <a:pt x="3355712" y="6874330"/>
                </a:lnTo>
                <a:lnTo>
                  <a:pt x="0" y="687433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6158" y="2301949"/>
            <a:ext cx="6238687" cy="402265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Manhattan has the highest price range.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Entire homes are the most expensive property type.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Brooklyn has a high listing density.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Lower priced listings receive more reviews.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75BF611-D2A5-4454-8C47-95B0BC422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627455" y="-19394"/>
            <a:ext cx="806149" cy="687739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CBA9C8-01C6-8DBB-B46F-D76FB240A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7" name="Rectangle 126">
            <a:extLst>
              <a:ext uri="{FF2B5EF4-FFF2-40B4-BE49-F238E27FC236}">
                <a16:creationId xmlns:a16="http://schemas.microsoft.com/office/drawing/2014/main" id="{D6309531-94CD-4CF6-AACE-80EC085E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C829807-7791-462F-8C59-969B0EC71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83FCFA-EF6D-584A-E091-CEE79827C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0906" y="533401"/>
            <a:ext cx="6427694" cy="13807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3818F-21AF-1699-D09B-60DDC203E2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9839" y="2105525"/>
            <a:ext cx="6481170" cy="42190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Char char="•"/>
            </a:pPr>
            <a:r>
              <a:rPr lang="en-US" b="1" dirty="0"/>
              <a:t>EDA helps </a:t>
            </a:r>
            <a:r>
              <a:rPr lang="en-US" b="1"/>
              <a:t>understand</a:t>
            </a:r>
            <a:r>
              <a:rPr lang="en-US" b="1" dirty="0"/>
              <a:t>:</a:t>
            </a: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Pricing trends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Location demand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Host activity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Customer booking behavior</a:t>
            </a:r>
          </a:p>
          <a:p>
            <a:pPr marL="57150" indent="-228600"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62CFBE6F-A8AE-06CC-0073-109776C5D74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09" r="2" b="2"/>
          <a:stretch>
            <a:fillRect/>
          </a:stretch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F75BF611-D2A5-4454-8C47-95B0BC422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845859" y="0"/>
            <a:ext cx="699247" cy="685734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DC2312DA-BDBD-40EE-84AB-53293C1CD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59210" y="5788959"/>
            <a:ext cx="7396312" cy="106904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544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52B717E-679E-41A4-B95A-8F7DFAD3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0EB278-F8C7-43AD-BCE2-A2F4D98C4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"/>
            <a:ext cx="7960944" cy="6859759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3837993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3837993 w 6125882"/>
              <a:gd name="connsiteY4" fmla="*/ 0 h 6857998"/>
              <a:gd name="connsiteX0" fmla="*/ 3244301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244301 w 6125882"/>
              <a:gd name="connsiteY4" fmla="*/ 0 h 6868949"/>
              <a:gd name="connsiteX0" fmla="*/ 3010169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010169 w 6125882"/>
              <a:gd name="connsiteY4" fmla="*/ 0 h 6868949"/>
              <a:gd name="connsiteX0" fmla="*/ 2951635 w 6067348"/>
              <a:gd name="connsiteY0" fmla="*/ 0 h 6868949"/>
              <a:gd name="connsiteX1" fmla="*/ 6067348 w 6067348"/>
              <a:gd name="connsiteY1" fmla="*/ 10951 h 6868949"/>
              <a:gd name="connsiteX2" fmla="*/ 6067348 w 6067348"/>
              <a:gd name="connsiteY2" fmla="*/ 6868949 h 6868949"/>
              <a:gd name="connsiteX3" fmla="*/ 0 w 6067348"/>
              <a:gd name="connsiteY3" fmla="*/ 6867946 h 6868949"/>
              <a:gd name="connsiteX4" fmla="*/ 2951635 w 6067348"/>
              <a:gd name="connsiteY4" fmla="*/ 0 h 6868949"/>
              <a:gd name="connsiteX0" fmla="*/ 2762929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762929 w 6067348"/>
              <a:gd name="connsiteY4" fmla="*/ 0 h 6859759"/>
              <a:gd name="connsiteX0" fmla="*/ 2675315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675315 w 6067348"/>
              <a:gd name="connsiteY4" fmla="*/ 0 h 6859759"/>
              <a:gd name="connsiteX0" fmla="*/ 2446171 w 5838204"/>
              <a:gd name="connsiteY0" fmla="*/ 0 h 6859759"/>
              <a:gd name="connsiteX1" fmla="*/ 5838204 w 5838204"/>
              <a:gd name="connsiteY1" fmla="*/ 1761 h 6859759"/>
              <a:gd name="connsiteX2" fmla="*/ 5838204 w 5838204"/>
              <a:gd name="connsiteY2" fmla="*/ 6859759 h 6859759"/>
              <a:gd name="connsiteX3" fmla="*/ 0 w 5838204"/>
              <a:gd name="connsiteY3" fmla="*/ 6858756 h 6859759"/>
              <a:gd name="connsiteX4" fmla="*/ 2446171 w 5838204"/>
              <a:gd name="connsiteY4" fmla="*/ 0 h 6859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8204" h="6859759">
                <a:moveTo>
                  <a:pt x="2446171" y="0"/>
                </a:moveTo>
                <a:lnTo>
                  <a:pt x="5838204" y="1761"/>
                </a:lnTo>
                <a:lnTo>
                  <a:pt x="5838204" y="6859759"/>
                </a:lnTo>
                <a:lnTo>
                  <a:pt x="0" y="6858756"/>
                </a:lnTo>
                <a:lnTo>
                  <a:pt x="2446171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350" y="541964"/>
            <a:ext cx="4768938" cy="381866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Linkedin post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0A7A0AD-25ED-4137-AA04-A0E36CAA8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1187" y="10631"/>
            <a:ext cx="876073" cy="68580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186F20B-6445-4368-B022-F9EABF15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307961" y="640726"/>
            <a:ext cx="2884039" cy="621727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97BBF-9EBF-4BEE-B39C-E6C666941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34086" y="0"/>
            <a:ext cx="2757914" cy="14252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Content Placeholder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6D0407C-A673-F34D-49F0-F135BB0379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455822" y="541964"/>
            <a:ext cx="4842956" cy="578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t">
            <a:normAutofit/>
          </a:bodyPr>
          <a:lstStyle/>
          <a:p>
            <a:r>
              <a:rPr lang="en-US" dirty="0" err="1"/>
              <a:t>sujata</a:t>
            </a:r>
          </a:p>
          <a:p>
            <a:r>
              <a:rPr lang="en-US"/>
              <a:t>Ph: +46734847131</a:t>
            </a:r>
          </a:p>
          <a:p>
            <a:r>
              <a:rPr lang="en-US" dirty="0" err="1">
                <a:ea typeface="+mn-lt"/>
                <a:cs typeface="+mn-lt"/>
              </a:rPr>
              <a:t>Mailid</a:t>
            </a:r>
            <a:r>
              <a:rPr lang="en-US" dirty="0">
                <a:ea typeface="+mn-lt"/>
                <a:cs typeface="+mn-lt"/>
              </a:rPr>
              <a:t>: sujata.gandhavarapu@gmail.com</a:t>
            </a:r>
          </a:p>
          <a:p>
            <a:r>
              <a:rPr lang="en-US" dirty="0">
                <a:ea typeface="+mn-lt"/>
                <a:cs typeface="+mn-lt"/>
              </a:rPr>
              <a:t>https://www.linkedin.com/in/sujata-279863aa/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283731-47E9-4F14-86D1-57C1EA2672A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4D4B218-C04B-41F5-949D-06E9DAE96B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846AD4-435D-4592-8088-FE2831A30D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AngleLinesVTI</Template>
  <TotalTime>0</TotalTime>
  <Words>428</Words>
  <Application>Microsoft Office PowerPoint</Application>
  <PresentationFormat>Widescreen</PresentationFormat>
  <Paragraphs>123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AngleLinesVTI</vt:lpstr>
      <vt:lpstr>New York Airbnb Listings EDA</vt:lpstr>
      <vt:lpstr>AGENDA</vt:lpstr>
      <vt:lpstr>Dataset overview</vt:lpstr>
      <vt:lpstr>Data Cleaning</vt:lpstr>
      <vt:lpstr>Key Visualizations</vt:lpstr>
      <vt:lpstr>Key Visualizations</vt:lpstr>
      <vt:lpstr>Key insights</vt:lpstr>
      <vt:lpstr>conclusion</vt:lpstr>
      <vt:lpstr>Linkedin post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231</cp:revision>
  <dcterms:created xsi:type="dcterms:W3CDTF">2026-03-16T04:26:16Z</dcterms:created>
  <dcterms:modified xsi:type="dcterms:W3CDTF">2026-03-17T16:34:47Z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